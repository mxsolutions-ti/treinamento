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74" r:id="rId4"/>
    <p:sldId id="275" r:id="rId5"/>
    <p:sldId id="276" r:id="rId6"/>
    <p:sldId id="277" r:id="rId7"/>
    <p:sldId id="278" r:id="rId8"/>
    <p:sldId id="258" r:id="rId9"/>
    <p:sldId id="259" r:id="rId10"/>
    <p:sldId id="270" r:id="rId11"/>
    <p:sldId id="271" r:id="rId12"/>
    <p:sldId id="272" r:id="rId13"/>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FEABC4-18B9-4757-B4BE-2105353D0C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1FA0CA50-982F-4FBB-8992-7E8D7AD6F6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A6228554-B5E3-4684-8E31-ECBC4CE20879}"/>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5" name="Espaço Reservado para Rodapé 4">
            <a:extLst>
              <a:ext uri="{FF2B5EF4-FFF2-40B4-BE49-F238E27FC236}">
                <a16:creationId xmlns:a16="http://schemas.microsoft.com/office/drawing/2014/main" id="{E6125815-03DC-4096-9270-0D8C0BFA5A8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93A0BE3-FAE9-4526-8B42-42700CFCF62B}"/>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535823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0B1020-1A9A-4A45-ABCD-B0B92B4E9351}"/>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78BA659-5722-46AC-A1F1-52818D47F3B3}"/>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33FCF11-E8B8-4998-9CBE-C8DF7ADEBB3B}"/>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5" name="Espaço Reservado para Rodapé 4">
            <a:extLst>
              <a:ext uri="{FF2B5EF4-FFF2-40B4-BE49-F238E27FC236}">
                <a16:creationId xmlns:a16="http://schemas.microsoft.com/office/drawing/2014/main" id="{ABD33D7F-A3BA-47B3-8E02-47F19FB591F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3C6F0F9-AA43-4263-ABB1-0655A1D271D9}"/>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424626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10BC0F-F6CA-4FFA-B355-20BB4E74136A}"/>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9A55E976-83CC-42DD-B8F7-6EA47ED7A2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D18213AF-4CAC-4808-987B-65D7CB198C98}"/>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5" name="Espaço Reservado para Rodapé 4">
            <a:extLst>
              <a:ext uri="{FF2B5EF4-FFF2-40B4-BE49-F238E27FC236}">
                <a16:creationId xmlns:a16="http://schemas.microsoft.com/office/drawing/2014/main" id="{8108A7C0-8128-4968-94AC-8C603B3F2D2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8949D6C-718F-41AD-94A6-7CB56B2623F0}"/>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2503405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748028-8DDA-408A-AB7A-D88657AD68F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8F80BA75-C972-44DF-9CC3-E1805BD1ACBD}"/>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454610A0-B7D6-4A52-89DA-1B10DF589BBC}"/>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264F17C6-0C3D-4214-9436-1BDCFCE805AA}"/>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6" name="Espaço Reservado para Rodapé 5">
            <a:extLst>
              <a:ext uri="{FF2B5EF4-FFF2-40B4-BE49-F238E27FC236}">
                <a16:creationId xmlns:a16="http://schemas.microsoft.com/office/drawing/2014/main" id="{56E0A2C4-1627-4463-809E-1F7D0020311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887E6139-5608-40BC-BB4C-C633900C9F45}"/>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921956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7287A-E0B2-48B5-8012-2EAFB4CFAB3C}"/>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75AE3F1F-0BC7-483C-99FC-8A4FB5745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83BB8272-BF8B-44FF-BD1E-4C82C53724BE}"/>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AE92364B-76D7-4586-B40B-3EB7572D12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CF207E24-03A1-4CD4-BAA2-8D821E1E7B27}"/>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000266C6-8329-49CC-B85D-85E16467C69C}"/>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8" name="Espaço Reservado para Rodapé 7">
            <a:extLst>
              <a:ext uri="{FF2B5EF4-FFF2-40B4-BE49-F238E27FC236}">
                <a16:creationId xmlns:a16="http://schemas.microsoft.com/office/drawing/2014/main" id="{1023497B-1E7D-4EB9-8851-63CECDEABBB7}"/>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74F24F50-2F62-47E5-8354-142BE7B43583}"/>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1014942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A9D22E-3302-4B55-A94A-547570AF170F}"/>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1F4990FD-6C86-49FE-AD26-EA7F56BCC085}"/>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4" name="Espaço Reservado para Rodapé 3">
            <a:extLst>
              <a:ext uri="{FF2B5EF4-FFF2-40B4-BE49-F238E27FC236}">
                <a16:creationId xmlns:a16="http://schemas.microsoft.com/office/drawing/2014/main" id="{A85B24AB-D3D6-4FD5-B93A-A15011F4CFB9}"/>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255F741E-44EB-42CB-888C-BF8C146F6B9F}"/>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1705499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02FA965-7FC5-4A3C-A100-60326336F613}"/>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3" name="Espaço Reservado para Rodapé 2">
            <a:extLst>
              <a:ext uri="{FF2B5EF4-FFF2-40B4-BE49-F238E27FC236}">
                <a16:creationId xmlns:a16="http://schemas.microsoft.com/office/drawing/2014/main" id="{73835245-5D45-42A8-B0D5-0FA5C8D88DB5}"/>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D58FD46-4595-4FB3-8648-192FE4B6BBC0}"/>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1034858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65F943-D340-43DE-9944-7D385CA76C53}"/>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24EB07A0-B4C5-47BE-9959-FC27B69B2F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BDB15EB2-1C83-417C-8EF0-18DE1DEDA8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F90357BC-B1E7-4506-AF39-CA0221935045}"/>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6" name="Espaço Reservado para Rodapé 5">
            <a:extLst>
              <a:ext uri="{FF2B5EF4-FFF2-40B4-BE49-F238E27FC236}">
                <a16:creationId xmlns:a16="http://schemas.microsoft.com/office/drawing/2014/main" id="{3B4D08DB-B22D-4FF9-823F-1C9235512C6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B7B4BD52-638B-407E-8459-723AE5DCBB2B}"/>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4185726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6E23BF-8CEA-4F60-BB5C-43A83220212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EE8727B6-B214-4A8A-9F45-02D5270B25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E35A6B4-68EE-4B16-B387-466BC4BEB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F5EDDD25-B8E3-49F3-A1AC-BEF1A3210108}"/>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6" name="Espaço Reservado para Rodapé 5">
            <a:extLst>
              <a:ext uri="{FF2B5EF4-FFF2-40B4-BE49-F238E27FC236}">
                <a16:creationId xmlns:a16="http://schemas.microsoft.com/office/drawing/2014/main" id="{E5412984-582C-4C51-9E98-B89A9BDA074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793B303-79A1-4C68-A26B-8233FEC715E1}"/>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3706769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8D4CB0-7BED-4DCD-8E47-4983D7904C2B}"/>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82C96E67-8EBE-409A-AB15-192157382441}"/>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2DE0F7C-8C36-4FB5-829F-47838F639A36}"/>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5" name="Espaço Reservado para Rodapé 4">
            <a:extLst>
              <a:ext uri="{FF2B5EF4-FFF2-40B4-BE49-F238E27FC236}">
                <a16:creationId xmlns:a16="http://schemas.microsoft.com/office/drawing/2014/main" id="{E795B31B-0364-4E4D-9F89-A4C646D16C2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1364C8B-2589-4960-B326-9EC880A924C6}"/>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1543250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863B125-EAB7-403A-8D4D-D3CC624E6C85}"/>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2241D861-5C3B-48C0-B00B-E7EF2D4FF55B}"/>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D54C570-9B6E-4DC9-BB1B-1666E1BDB242}"/>
              </a:ext>
            </a:extLst>
          </p:cNvPr>
          <p:cNvSpPr>
            <a:spLocks noGrp="1"/>
          </p:cNvSpPr>
          <p:nvPr>
            <p:ph type="dt" sz="half" idx="10"/>
          </p:nvPr>
        </p:nvSpPr>
        <p:spPr/>
        <p:txBody>
          <a:bodyPr/>
          <a:lstStyle/>
          <a:p>
            <a:fld id="{25E96A58-25FA-4544-86FA-D532FCCA8593}" type="datetimeFigureOut">
              <a:rPr lang="pt-BR" smtClean="0"/>
              <a:t>26/01/2022</a:t>
            </a:fld>
            <a:endParaRPr lang="pt-BR"/>
          </a:p>
        </p:txBody>
      </p:sp>
      <p:sp>
        <p:nvSpPr>
          <p:cNvPr id="5" name="Espaço Reservado para Rodapé 4">
            <a:extLst>
              <a:ext uri="{FF2B5EF4-FFF2-40B4-BE49-F238E27FC236}">
                <a16:creationId xmlns:a16="http://schemas.microsoft.com/office/drawing/2014/main" id="{D3E216DF-7F37-4AB3-AE7E-3FDEE4E32BC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E2E4C8B-FF14-42B6-B340-696BBF647EFA}"/>
              </a:ext>
            </a:extLst>
          </p:cNvPr>
          <p:cNvSpPr>
            <a:spLocks noGrp="1"/>
          </p:cNvSpPr>
          <p:nvPr>
            <p:ph type="sldNum" sz="quarter" idx="12"/>
          </p:nvPr>
        </p:nvSpPr>
        <p:spPr/>
        <p:txBody>
          <a:bodyPr/>
          <a:lstStyle/>
          <a:p>
            <a:fld id="{FF727522-007A-4DC6-BEB2-46D1EF230577}" type="slidenum">
              <a:rPr lang="pt-BR" smtClean="0"/>
              <a:t>‹nº›</a:t>
            </a:fld>
            <a:endParaRPr lang="pt-BR"/>
          </a:p>
        </p:txBody>
      </p:sp>
    </p:spTree>
    <p:extLst>
      <p:ext uri="{BB962C8B-B14F-4D97-AF65-F5344CB8AC3E}">
        <p14:creationId xmlns:p14="http://schemas.microsoft.com/office/powerpoint/2010/main" val="1175284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AB5C60EF-122B-4061-A5DD-B58E15ED98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D6FF2291-E343-4433-898B-BF53059F91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64CF634-A623-4439-A971-6CA9FA8687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E96A58-25FA-4544-86FA-D532FCCA8593}" type="datetimeFigureOut">
              <a:rPr lang="pt-BR" smtClean="0"/>
              <a:t>26/01/2022</a:t>
            </a:fld>
            <a:endParaRPr lang="pt-BR"/>
          </a:p>
        </p:txBody>
      </p:sp>
      <p:sp>
        <p:nvSpPr>
          <p:cNvPr id="5" name="Espaço Reservado para Rodapé 4">
            <a:extLst>
              <a:ext uri="{FF2B5EF4-FFF2-40B4-BE49-F238E27FC236}">
                <a16:creationId xmlns:a16="http://schemas.microsoft.com/office/drawing/2014/main" id="{7374418D-FD04-4CD5-8807-9ED4CD7F58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4925CF63-6560-4D90-AB49-8DC784C1CF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727522-007A-4DC6-BEB2-46D1EF230577}" type="slidenum">
              <a:rPr lang="pt-BR" smtClean="0"/>
              <a:t>‹nº›</a:t>
            </a:fld>
            <a:endParaRPr lang="pt-BR"/>
          </a:p>
        </p:txBody>
      </p:sp>
    </p:spTree>
    <p:extLst>
      <p:ext uri="{BB962C8B-B14F-4D97-AF65-F5344CB8AC3E}">
        <p14:creationId xmlns:p14="http://schemas.microsoft.com/office/powerpoint/2010/main" val="3344899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help.ubuntu.com/kubuntu/desktopguide/pt_BR/directories-file-systems.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6161A6E-6A6C-42E3-A8AD-3C334BF401B3}"/>
              </a:ext>
            </a:extLst>
          </p:cNvPr>
          <p:cNvSpPr txBox="1"/>
          <p:nvPr/>
        </p:nvSpPr>
        <p:spPr>
          <a:xfrm>
            <a:off x="506028" y="497149"/>
            <a:ext cx="1838965" cy="646331"/>
          </a:xfrm>
          <a:prstGeom prst="rect">
            <a:avLst/>
          </a:prstGeom>
          <a:noFill/>
        </p:spPr>
        <p:txBody>
          <a:bodyPr wrap="none" rtlCol="0">
            <a:spAutoFit/>
          </a:bodyPr>
          <a:lstStyle/>
          <a:p>
            <a:r>
              <a:rPr lang="pt-BR" sz="3600" dirty="0"/>
              <a:t>Aula - 03</a:t>
            </a:r>
          </a:p>
        </p:txBody>
      </p:sp>
      <p:sp>
        <p:nvSpPr>
          <p:cNvPr id="5" name="CaixaDeTexto 4">
            <a:extLst>
              <a:ext uri="{FF2B5EF4-FFF2-40B4-BE49-F238E27FC236}">
                <a16:creationId xmlns:a16="http://schemas.microsoft.com/office/drawing/2014/main" id="{5540FA00-0741-44F2-9711-58C2420E3D26}"/>
              </a:ext>
            </a:extLst>
          </p:cNvPr>
          <p:cNvSpPr txBox="1"/>
          <p:nvPr/>
        </p:nvSpPr>
        <p:spPr>
          <a:xfrm>
            <a:off x="480476" y="1392911"/>
            <a:ext cx="8882111" cy="461665"/>
          </a:xfrm>
          <a:prstGeom prst="rect">
            <a:avLst/>
          </a:prstGeom>
          <a:noFill/>
        </p:spPr>
        <p:txBody>
          <a:bodyPr wrap="none" rtlCol="0">
            <a:spAutoFit/>
          </a:bodyPr>
          <a:lstStyle/>
          <a:p>
            <a:r>
              <a:rPr lang="pt-BR" sz="2400" dirty="0"/>
              <a:t>CONCEITOS FUNDAMENTAIS HTML E VERSIONAMENTO DE ARQUIVOS</a:t>
            </a:r>
          </a:p>
        </p:txBody>
      </p:sp>
      <p:sp>
        <p:nvSpPr>
          <p:cNvPr id="6" name="CaixaDeTexto 5">
            <a:extLst>
              <a:ext uri="{FF2B5EF4-FFF2-40B4-BE49-F238E27FC236}">
                <a16:creationId xmlns:a16="http://schemas.microsoft.com/office/drawing/2014/main" id="{D809720C-3C6D-4BC0-8DC5-E445AFAC81E1}"/>
              </a:ext>
            </a:extLst>
          </p:cNvPr>
          <p:cNvSpPr txBox="1"/>
          <p:nvPr/>
        </p:nvSpPr>
        <p:spPr>
          <a:xfrm>
            <a:off x="506028" y="2104007"/>
            <a:ext cx="3068917" cy="3693319"/>
          </a:xfrm>
          <a:prstGeom prst="rect">
            <a:avLst/>
          </a:prstGeom>
          <a:noFill/>
        </p:spPr>
        <p:txBody>
          <a:bodyPr wrap="none" rtlCol="0">
            <a:spAutoFit/>
          </a:bodyPr>
          <a:lstStyle/>
          <a:p>
            <a:r>
              <a:rPr lang="pt-BR" dirty="0"/>
              <a:t>1 – O que é HTML</a:t>
            </a:r>
          </a:p>
          <a:p>
            <a:endParaRPr lang="pt-BR" dirty="0"/>
          </a:p>
          <a:p>
            <a:r>
              <a:rPr lang="pt-BR" dirty="0"/>
              <a:t>2 – Documento HTML básico</a:t>
            </a:r>
          </a:p>
          <a:p>
            <a:endParaRPr lang="pt-BR" dirty="0"/>
          </a:p>
          <a:p>
            <a:r>
              <a:rPr lang="pt-BR" dirty="0"/>
              <a:t>3 – Elementos e atributos</a:t>
            </a:r>
          </a:p>
          <a:p>
            <a:endParaRPr lang="pt-BR" dirty="0"/>
          </a:p>
          <a:p>
            <a:r>
              <a:rPr lang="pt-BR" dirty="0"/>
              <a:t>4 – Principais elementos HTML</a:t>
            </a:r>
          </a:p>
          <a:p>
            <a:endParaRPr lang="pt-BR" dirty="0"/>
          </a:p>
          <a:p>
            <a:r>
              <a:rPr lang="pt-BR" dirty="0"/>
              <a:t>5 – O que é GIT</a:t>
            </a:r>
          </a:p>
          <a:p>
            <a:endParaRPr lang="pt-BR" dirty="0"/>
          </a:p>
          <a:p>
            <a:r>
              <a:rPr lang="pt-BR" dirty="0"/>
              <a:t>6 – </a:t>
            </a:r>
            <a:r>
              <a:rPr lang="pt-BR" dirty="0" err="1"/>
              <a:t>Github</a:t>
            </a:r>
            <a:endParaRPr lang="pt-BR" dirty="0"/>
          </a:p>
          <a:p>
            <a:endParaRPr lang="pt-BR" dirty="0"/>
          </a:p>
          <a:p>
            <a:r>
              <a:rPr lang="pt-BR" dirty="0"/>
              <a:t>7 – Principais comandos</a:t>
            </a:r>
          </a:p>
        </p:txBody>
      </p:sp>
    </p:spTree>
    <p:extLst>
      <p:ext uri="{BB962C8B-B14F-4D97-AF65-F5344CB8AC3E}">
        <p14:creationId xmlns:p14="http://schemas.microsoft.com/office/powerpoint/2010/main" val="2744494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B723B6DF-7C8E-458B-A30B-2AF829F406B4}"/>
              </a:ext>
            </a:extLst>
          </p:cNvPr>
          <p:cNvSpPr txBox="1"/>
          <p:nvPr/>
        </p:nvSpPr>
        <p:spPr>
          <a:xfrm>
            <a:off x="381741" y="337350"/>
            <a:ext cx="11576482" cy="6001643"/>
          </a:xfrm>
          <a:prstGeom prst="rect">
            <a:avLst/>
          </a:prstGeom>
          <a:noFill/>
        </p:spPr>
        <p:txBody>
          <a:bodyPr wrap="square">
            <a:spAutoFit/>
          </a:bodyPr>
          <a:lstStyle/>
          <a:p>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!DOCTYPE</a:t>
            </a:r>
            <a:r>
              <a:rPr lang="en-US" sz="2400" b="0" i="0" dirty="0">
                <a:solidFill>
                  <a:srgbClr val="FF0000"/>
                </a:solidFill>
                <a:effectLst/>
                <a:latin typeface="Consolas" panose="020B0609020204030204" pitchFamily="49" charset="0"/>
              </a:rPr>
              <a:t> html</a:t>
            </a:r>
            <a:r>
              <a:rPr lang="en-US" sz="2400" b="0" i="0" dirty="0">
                <a:solidFill>
                  <a:srgbClr val="0000CD"/>
                </a:solidFill>
                <a:effectLst/>
                <a:latin typeface="Consolas" panose="020B0609020204030204" pitchFamily="49" charset="0"/>
              </a:rPr>
              <a:t>&gt;</a:t>
            </a:r>
            <a:br>
              <a:rPr lang="en-US" sz="2400" dirty="0"/>
            </a:br>
            <a:endParaRPr lang="en-US" sz="2400" dirty="0"/>
          </a:p>
          <a:p>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html</a:t>
            </a:r>
            <a:r>
              <a:rPr lang="en-US" sz="2400" b="0" i="0" dirty="0">
                <a:solidFill>
                  <a:srgbClr val="0000CD"/>
                </a:solidFill>
                <a:effectLst/>
                <a:latin typeface="Consolas" panose="020B0609020204030204" pitchFamily="49" charset="0"/>
              </a:rPr>
              <a:t>&gt;</a:t>
            </a:r>
            <a:br>
              <a:rPr lang="en-US" sz="2400" dirty="0"/>
            </a:br>
            <a:endParaRPr lang="en-US" sz="2400" b="0" i="0" dirty="0">
              <a:solidFill>
                <a:srgbClr val="0000CD"/>
              </a:solidFill>
              <a:effectLst/>
              <a:latin typeface="Consolas" panose="020B0609020204030204" pitchFamily="49" charset="0"/>
            </a:endParaRPr>
          </a:p>
          <a:p>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head</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title</a:t>
            </a:r>
            <a:r>
              <a:rPr lang="en-US" sz="2400" b="0" i="0" dirty="0">
                <a:solidFill>
                  <a:srgbClr val="0000CD"/>
                </a:solidFill>
                <a:effectLst/>
                <a:latin typeface="Consolas" panose="020B0609020204030204" pitchFamily="49" charset="0"/>
              </a:rPr>
              <a:t>&gt;</a:t>
            </a:r>
            <a:r>
              <a:rPr lang="en-US" sz="2400" b="0" i="0" dirty="0">
                <a:solidFill>
                  <a:srgbClr val="000000"/>
                </a:solidFill>
                <a:effectLst/>
                <a:latin typeface="Consolas" panose="020B0609020204030204" pitchFamily="49" charset="0"/>
              </a:rPr>
              <a:t>Page Title</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/title</a:t>
            </a:r>
            <a:r>
              <a:rPr lang="en-US" sz="2400" b="0" i="0" dirty="0">
                <a:solidFill>
                  <a:srgbClr val="0000CD"/>
                </a:solidFill>
                <a:effectLst/>
                <a:latin typeface="Consolas" panose="020B0609020204030204" pitchFamily="49" charset="0"/>
              </a:rPr>
              <a:t>&gt;</a:t>
            </a:r>
          </a:p>
          <a:p>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/head</a:t>
            </a:r>
            <a:r>
              <a:rPr lang="en-US" sz="2400" b="0" i="0" dirty="0">
                <a:solidFill>
                  <a:srgbClr val="0000CD"/>
                </a:solidFill>
                <a:effectLst/>
                <a:latin typeface="Consolas" panose="020B0609020204030204" pitchFamily="49" charset="0"/>
              </a:rPr>
              <a:t>&gt;</a:t>
            </a:r>
            <a:br>
              <a:rPr lang="en-US" sz="2400" dirty="0"/>
            </a:br>
            <a:endParaRPr lang="en-US" sz="2400" b="0" i="0" dirty="0">
              <a:solidFill>
                <a:srgbClr val="0000CD"/>
              </a:solidFill>
              <a:effectLst/>
              <a:latin typeface="Consolas" panose="020B0609020204030204" pitchFamily="49" charset="0"/>
            </a:endParaRPr>
          </a:p>
          <a:p>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body</a:t>
            </a:r>
            <a:r>
              <a:rPr lang="en-US" sz="2400" b="0" i="0" dirty="0">
                <a:solidFill>
                  <a:srgbClr val="0000CD"/>
                </a:solidFill>
                <a:effectLst/>
                <a:latin typeface="Consolas" panose="020B0609020204030204" pitchFamily="49" charset="0"/>
              </a:rPr>
              <a:t>&gt;</a:t>
            </a:r>
            <a:br>
              <a:rPr lang="en-US" sz="2400" dirty="0"/>
            </a:b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h1</a:t>
            </a:r>
            <a:r>
              <a:rPr lang="en-US" sz="2400" b="0" i="0" dirty="0">
                <a:solidFill>
                  <a:srgbClr val="0000CD"/>
                </a:solidFill>
                <a:effectLst/>
                <a:latin typeface="Consolas" panose="020B0609020204030204" pitchFamily="49" charset="0"/>
              </a:rPr>
              <a:t>&gt;</a:t>
            </a:r>
            <a:r>
              <a:rPr lang="en-US" sz="2400" b="0" i="0" dirty="0">
                <a:solidFill>
                  <a:srgbClr val="000000"/>
                </a:solidFill>
                <a:effectLst/>
                <a:latin typeface="Consolas" panose="020B0609020204030204" pitchFamily="49" charset="0"/>
              </a:rPr>
              <a:t>My First Heading</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/h1</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p</a:t>
            </a:r>
            <a:r>
              <a:rPr lang="en-US" sz="2400" b="0" i="0" dirty="0">
                <a:solidFill>
                  <a:srgbClr val="0000CD"/>
                </a:solidFill>
                <a:effectLst/>
                <a:latin typeface="Consolas" panose="020B0609020204030204" pitchFamily="49" charset="0"/>
              </a:rPr>
              <a:t>&gt;</a:t>
            </a:r>
            <a:r>
              <a:rPr lang="en-US" sz="2400" b="0" i="0" dirty="0">
                <a:solidFill>
                  <a:srgbClr val="000000"/>
                </a:solidFill>
                <a:effectLst/>
                <a:latin typeface="Consolas" panose="020B0609020204030204" pitchFamily="49" charset="0"/>
              </a:rPr>
              <a:t>My first paragraph.</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/p</a:t>
            </a:r>
            <a:r>
              <a:rPr lang="en-US" sz="2400" b="0" i="0" dirty="0">
                <a:solidFill>
                  <a:srgbClr val="0000CD"/>
                </a:solidFill>
                <a:effectLst/>
                <a:latin typeface="Consolas" panose="020B0609020204030204" pitchFamily="49" charset="0"/>
              </a:rPr>
              <a:t>&gt;</a:t>
            </a:r>
            <a:br>
              <a:rPr lang="en-US" sz="2400" dirty="0"/>
            </a:b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/body</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/html</a:t>
            </a:r>
            <a:r>
              <a:rPr lang="en-US" sz="2400" b="0" i="0" dirty="0">
                <a:solidFill>
                  <a:srgbClr val="0000CD"/>
                </a:solidFill>
                <a:effectLst/>
                <a:latin typeface="Consolas" panose="020B0609020204030204" pitchFamily="49" charset="0"/>
              </a:rPr>
              <a:t>&gt;</a:t>
            </a:r>
            <a:endParaRPr lang="pt-BR" sz="2400" dirty="0"/>
          </a:p>
        </p:txBody>
      </p:sp>
    </p:spTree>
    <p:extLst>
      <p:ext uri="{BB962C8B-B14F-4D97-AF65-F5344CB8AC3E}">
        <p14:creationId xmlns:p14="http://schemas.microsoft.com/office/powerpoint/2010/main" val="1531678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B723B6DF-7C8E-458B-A30B-2AF829F406B4}"/>
              </a:ext>
            </a:extLst>
          </p:cNvPr>
          <p:cNvSpPr txBox="1"/>
          <p:nvPr/>
        </p:nvSpPr>
        <p:spPr>
          <a:xfrm>
            <a:off x="454980" y="547741"/>
            <a:ext cx="6094520" cy="369332"/>
          </a:xfrm>
          <a:prstGeom prst="rect">
            <a:avLst/>
          </a:prstGeom>
          <a:noFill/>
        </p:spPr>
        <p:txBody>
          <a:bodyPr wrap="square">
            <a:spAutoFit/>
          </a:bodyPr>
          <a:lstStyle/>
          <a:p>
            <a:r>
              <a:rPr lang="pt-BR" dirty="0"/>
              <a:t>2 – SSH</a:t>
            </a:r>
          </a:p>
        </p:txBody>
      </p:sp>
      <p:sp>
        <p:nvSpPr>
          <p:cNvPr id="6" name="CaixaDeTexto 5">
            <a:extLst>
              <a:ext uri="{FF2B5EF4-FFF2-40B4-BE49-F238E27FC236}">
                <a16:creationId xmlns:a16="http://schemas.microsoft.com/office/drawing/2014/main" id="{9CCF8CCA-2EEC-430A-945C-E946467CC0FF}"/>
              </a:ext>
            </a:extLst>
          </p:cNvPr>
          <p:cNvSpPr txBox="1"/>
          <p:nvPr/>
        </p:nvSpPr>
        <p:spPr>
          <a:xfrm>
            <a:off x="488272" y="1376039"/>
            <a:ext cx="10377996" cy="923330"/>
          </a:xfrm>
          <a:prstGeom prst="rect">
            <a:avLst/>
          </a:prstGeom>
          <a:noFill/>
        </p:spPr>
        <p:txBody>
          <a:bodyPr wrap="square" rtlCol="0">
            <a:spAutoFit/>
          </a:bodyPr>
          <a:lstStyle/>
          <a:p>
            <a:r>
              <a:rPr lang="pt-BR" dirty="0"/>
              <a:t>O SSH ou </a:t>
            </a:r>
            <a:r>
              <a:rPr lang="pt-BR" dirty="0" err="1"/>
              <a:t>Secure</a:t>
            </a:r>
            <a:r>
              <a:rPr lang="pt-BR" dirty="0"/>
              <a:t> Socket Shell é um protocolo de rede que permite acessar e gerenciar servidores local ou remotamente.</a:t>
            </a:r>
          </a:p>
          <a:p>
            <a:r>
              <a:rPr lang="pt-BR" dirty="0"/>
              <a:t>Permite também realizar a transferência de arquivos entre outras funcionalidades.</a:t>
            </a:r>
          </a:p>
        </p:txBody>
      </p:sp>
    </p:spTree>
    <p:extLst>
      <p:ext uri="{BB962C8B-B14F-4D97-AF65-F5344CB8AC3E}">
        <p14:creationId xmlns:p14="http://schemas.microsoft.com/office/powerpoint/2010/main" val="2753224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B723B6DF-7C8E-458B-A30B-2AF829F406B4}"/>
              </a:ext>
            </a:extLst>
          </p:cNvPr>
          <p:cNvSpPr txBox="1"/>
          <p:nvPr/>
        </p:nvSpPr>
        <p:spPr>
          <a:xfrm>
            <a:off x="488272" y="521108"/>
            <a:ext cx="6094520" cy="369332"/>
          </a:xfrm>
          <a:prstGeom prst="rect">
            <a:avLst/>
          </a:prstGeom>
          <a:noFill/>
        </p:spPr>
        <p:txBody>
          <a:bodyPr wrap="square">
            <a:spAutoFit/>
          </a:bodyPr>
          <a:lstStyle/>
          <a:p>
            <a:r>
              <a:rPr lang="pt-BR" dirty="0"/>
              <a:t>3 – Conectando em um servidor remoto</a:t>
            </a:r>
          </a:p>
        </p:txBody>
      </p:sp>
      <p:sp>
        <p:nvSpPr>
          <p:cNvPr id="6" name="CaixaDeTexto 5">
            <a:extLst>
              <a:ext uri="{FF2B5EF4-FFF2-40B4-BE49-F238E27FC236}">
                <a16:creationId xmlns:a16="http://schemas.microsoft.com/office/drawing/2014/main" id="{9CCF8CCA-2EEC-430A-945C-E946467CC0FF}"/>
              </a:ext>
            </a:extLst>
          </p:cNvPr>
          <p:cNvSpPr txBox="1"/>
          <p:nvPr/>
        </p:nvSpPr>
        <p:spPr>
          <a:xfrm>
            <a:off x="488272" y="1376039"/>
            <a:ext cx="10377996" cy="2031325"/>
          </a:xfrm>
          <a:prstGeom prst="rect">
            <a:avLst/>
          </a:prstGeom>
          <a:noFill/>
        </p:spPr>
        <p:txBody>
          <a:bodyPr wrap="square" rtlCol="0">
            <a:spAutoFit/>
          </a:bodyPr>
          <a:lstStyle/>
          <a:p>
            <a:r>
              <a:rPr lang="en-US" dirty="0" err="1"/>
              <a:t>Você</a:t>
            </a:r>
            <a:r>
              <a:rPr lang="en-US" dirty="0"/>
              <a:t> </a:t>
            </a:r>
            <a:r>
              <a:rPr lang="en-US" dirty="0" err="1"/>
              <a:t>vai</a:t>
            </a:r>
            <a:r>
              <a:rPr lang="en-US" dirty="0"/>
              <a:t> </a:t>
            </a:r>
            <a:r>
              <a:rPr lang="en-US" dirty="0" err="1"/>
              <a:t>precisar</a:t>
            </a:r>
            <a:r>
              <a:rPr lang="en-US" dirty="0"/>
              <a:t> de um client SSH </a:t>
            </a:r>
            <a:r>
              <a:rPr lang="en-US" dirty="0" err="1"/>
              <a:t>como</a:t>
            </a:r>
            <a:r>
              <a:rPr lang="en-US" dirty="0"/>
              <a:t> o Putty </a:t>
            </a:r>
            <a:r>
              <a:rPr lang="en-US" dirty="0" err="1"/>
              <a:t>ou</a:t>
            </a:r>
            <a:r>
              <a:rPr lang="en-US" dirty="0"/>
              <a:t> outro software </a:t>
            </a:r>
            <a:r>
              <a:rPr lang="en-US" dirty="0" err="1"/>
              <a:t>ou</a:t>
            </a:r>
            <a:r>
              <a:rPr lang="en-US" dirty="0"/>
              <a:t> </a:t>
            </a:r>
            <a:r>
              <a:rPr lang="en-US" dirty="0" err="1"/>
              <a:t>mesmo</a:t>
            </a:r>
            <a:r>
              <a:rPr lang="en-US" dirty="0"/>
              <a:t> um terminal </a:t>
            </a:r>
            <a:r>
              <a:rPr lang="en-US" dirty="0" err="1"/>
              <a:t>compatível</a:t>
            </a:r>
            <a:r>
              <a:rPr lang="en-US" dirty="0"/>
              <a:t>.</a:t>
            </a:r>
          </a:p>
          <a:p>
            <a:endParaRPr lang="en-US" dirty="0"/>
          </a:p>
          <a:p>
            <a:r>
              <a:rPr lang="en-US" dirty="0"/>
              <a:t>Para </a:t>
            </a:r>
            <a:r>
              <a:rPr lang="en-US" dirty="0" err="1"/>
              <a:t>estabelecer</a:t>
            </a:r>
            <a:r>
              <a:rPr lang="en-US" dirty="0"/>
              <a:t> </a:t>
            </a:r>
            <a:r>
              <a:rPr lang="en-US" dirty="0" err="1"/>
              <a:t>uma</a:t>
            </a:r>
            <a:r>
              <a:rPr lang="en-US" dirty="0"/>
              <a:t> </a:t>
            </a:r>
            <a:r>
              <a:rPr lang="en-US" dirty="0" err="1"/>
              <a:t>conexão</a:t>
            </a:r>
            <a:r>
              <a:rPr lang="en-US" dirty="0"/>
              <a:t>, </a:t>
            </a:r>
            <a:r>
              <a:rPr lang="en-US" dirty="0" err="1"/>
              <a:t>abra</a:t>
            </a:r>
            <a:r>
              <a:rPr lang="en-US" dirty="0"/>
              <a:t> o terminal e </a:t>
            </a:r>
            <a:r>
              <a:rPr lang="en-US" dirty="0" err="1"/>
              <a:t>e</a:t>
            </a:r>
            <a:r>
              <a:rPr lang="en-US" dirty="0"/>
              <a:t> execute:</a:t>
            </a:r>
          </a:p>
          <a:p>
            <a:endParaRPr lang="en-US" dirty="0"/>
          </a:p>
          <a:p>
            <a:r>
              <a:rPr lang="en-US" dirty="0" err="1"/>
              <a:t>ssh</a:t>
            </a:r>
            <a:r>
              <a:rPr lang="en-US" dirty="0"/>
              <a:t> </a:t>
            </a:r>
            <a:r>
              <a:rPr lang="en-US" dirty="0" err="1"/>
              <a:t>seu_nome_de_usuario@endereco_ip_do_servidor</a:t>
            </a:r>
            <a:endParaRPr lang="en-US" dirty="0"/>
          </a:p>
          <a:p>
            <a:endParaRPr lang="en-US" dirty="0"/>
          </a:p>
          <a:p>
            <a:r>
              <a:rPr lang="en-US" dirty="0" err="1"/>
              <a:t>Vai</a:t>
            </a:r>
            <a:r>
              <a:rPr lang="en-US" dirty="0"/>
              <a:t> </a:t>
            </a:r>
            <a:r>
              <a:rPr lang="en-US" dirty="0" err="1"/>
              <a:t>precisar</a:t>
            </a:r>
            <a:r>
              <a:rPr lang="en-US" dirty="0"/>
              <a:t> </a:t>
            </a:r>
            <a:r>
              <a:rPr lang="en-US" dirty="0" err="1"/>
              <a:t>digitar</a:t>
            </a:r>
            <a:r>
              <a:rPr lang="en-US" dirty="0"/>
              <a:t> </a:t>
            </a:r>
            <a:r>
              <a:rPr lang="en-US" dirty="0" err="1"/>
              <a:t>sua</a:t>
            </a:r>
            <a:r>
              <a:rPr lang="en-US" dirty="0"/>
              <a:t> </a:t>
            </a:r>
            <a:r>
              <a:rPr lang="en-US" dirty="0" err="1"/>
              <a:t>senha</a:t>
            </a:r>
            <a:r>
              <a:rPr lang="en-US" dirty="0"/>
              <a:t> de </a:t>
            </a:r>
            <a:r>
              <a:rPr lang="en-US" dirty="0" err="1"/>
              <a:t>acesso</a:t>
            </a:r>
            <a:r>
              <a:rPr lang="en-US" dirty="0"/>
              <a:t> </a:t>
            </a:r>
            <a:r>
              <a:rPr lang="en-US" dirty="0" err="1"/>
              <a:t>ou</a:t>
            </a:r>
            <a:r>
              <a:rPr lang="en-US" dirty="0"/>
              <a:t> </a:t>
            </a:r>
            <a:r>
              <a:rPr lang="en-US" dirty="0" err="1"/>
              <a:t>poderá</a:t>
            </a:r>
            <a:r>
              <a:rPr lang="en-US" dirty="0"/>
              <a:t> </a:t>
            </a:r>
            <a:r>
              <a:rPr lang="en-US" dirty="0" err="1"/>
              <a:t>acessar</a:t>
            </a:r>
            <a:r>
              <a:rPr lang="en-US" dirty="0"/>
              <a:t> com um </a:t>
            </a:r>
            <a:r>
              <a:rPr lang="en-US" dirty="0" err="1"/>
              <a:t>certificado</a:t>
            </a:r>
            <a:r>
              <a:rPr lang="en-US" dirty="0"/>
              <a:t>.</a:t>
            </a:r>
            <a:endParaRPr lang="pt-BR" dirty="0"/>
          </a:p>
        </p:txBody>
      </p:sp>
    </p:spTree>
    <p:extLst>
      <p:ext uri="{BB962C8B-B14F-4D97-AF65-F5344CB8AC3E}">
        <p14:creationId xmlns:p14="http://schemas.microsoft.com/office/powerpoint/2010/main" val="2537148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B723B6DF-7C8E-458B-A30B-2AF829F406B4}"/>
              </a:ext>
            </a:extLst>
          </p:cNvPr>
          <p:cNvSpPr txBox="1"/>
          <p:nvPr/>
        </p:nvSpPr>
        <p:spPr>
          <a:xfrm>
            <a:off x="488272" y="521108"/>
            <a:ext cx="6094520" cy="369332"/>
          </a:xfrm>
          <a:prstGeom prst="rect">
            <a:avLst/>
          </a:prstGeom>
          <a:noFill/>
        </p:spPr>
        <p:txBody>
          <a:bodyPr wrap="square">
            <a:spAutoFit/>
          </a:bodyPr>
          <a:lstStyle/>
          <a:p>
            <a:r>
              <a:rPr lang="pt-BR" dirty="0"/>
              <a:t>4 – Estrutura de arquivos</a:t>
            </a:r>
          </a:p>
        </p:txBody>
      </p:sp>
      <p:sp>
        <p:nvSpPr>
          <p:cNvPr id="6" name="CaixaDeTexto 5">
            <a:extLst>
              <a:ext uri="{FF2B5EF4-FFF2-40B4-BE49-F238E27FC236}">
                <a16:creationId xmlns:a16="http://schemas.microsoft.com/office/drawing/2014/main" id="{9CCF8CCA-2EEC-430A-945C-E946467CC0FF}"/>
              </a:ext>
            </a:extLst>
          </p:cNvPr>
          <p:cNvSpPr txBox="1"/>
          <p:nvPr/>
        </p:nvSpPr>
        <p:spPr>
          <a:xfrm>
            <a:off x="488272" y="1376039"/>
            <a:ext cx="10377996" cy="3970318"/>
          </a:xfrm>
          <a:prstGeom prst="rect">
            <a:avLst/>
          </a:prstGeom>
          <a:noFill/>
        </p:spPr>
        <p:txBody>
          <a:bodyPr wrap="square" rtlCol="0">
            <a:spAutoFit/>
          </a:bodyPr>
          <a:lstStyle/>
          <a:p>
            <a:r>
              <a:rPr lang="pt-BR" dirty="0"/>
              <a:t>A estrutura de diretórios do Linux difere significativamente do modelo utilizado no Windows. No Linux não temos letras de unidade como C:\ e D:\, e as partições são numeradas.</a:t>
            </a:r>
          </a:p>
          <a:p>
            <a:endParaRPr lang="pt-BR" dirty="0"/>
          </a:p>
          <a:p>
            <a:r>
              <a:rPr lang="pt-BR" dirty="0"/>
              <a:t>Assim como no Windows o diretório raiz é a unidade C:\, no Linux o diretório raiz ou (root) e o “/”.</a:t>
            </a:r>
          </a:p>
          <a:p>
            <a:endParaRPr lang="pt-BR" dirty="0"/>
          </a:p>
          <a:p>
            <a:r>
              <a:rPr lang="pt-BR" dirty="0"/>
              <a:t>Tudo o que há no seu sistema Linux fica localizado dentro do diretório raiz, representado por /. Outras partições e discos também se localizam sob o diretório raiz no Linux, enquanto no Windows cada partição teria sua própria letra de unidade separada. No Linux, as demais partições se encontram “montadas” em pastas dentro da hierarquia de diretórios, sob a raiz (/).</a:t>
            </a:r>
          </a:p>
          <a:p>
            <a:endParaRPr lang="pt-BR" dirty="0"/>
          </a:p>
          <a:p>
            <a:r>
              <a:rPr lang="pt-BR" dirty="0"/>
              <a:t>Mais detalhes:</a:t>
            </a:r>
          </a:p>
          <a:p>
            <a:endParaRPr lang="pt-BR" dirty="0"/>
          </a:p>
          <a:p>
            <a:r>
              <a:rPr lang="pt-BR" dirty="0">
                <a:hlinkClick r:id="rId2"/>
              </a:rPr>
              <a:t>https://help.ubuntu.com/kubuntu/desktopguide/pt_BR/directories-file-systems.html</a:t>
            </a:r>
            <a:endParaRPr lang="pt-BR" dirty="0"/>
          </a:p>
          <a:p>
            <a:endParaRPr lang="pt-BR" dirty="0"/>
          </a:p>
        </p:txBody>
      </p:sp>
    </p:spTree>
    <p:extLst>
      <p:ext uri="{BB962C8B-B14F-4D97-AF65-F5344CB8AC3E}">
        <p14:creationId xmlns:p14="http://schemas.microsoft.com/office/powerpoint/2010/main" val="2650072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B41FF297-9DB1-4E7C-ABC4-D657FBE3563F}"/>
              </a:ext>
            </a:extLst>
          </p:cNvPr>
          <p:cNvSpPr txBox="1"/>
          <p:nvPr/>
        </p:nvSpPr>
        <p:spPr>
          <a:xfrm>
            <a:off x="570389" y="814071"/>
            <a:ext cx="10260367" cy="1754326"/>
          </a:xfrm>
          <a:prstGeom prst="rect">
            <a:avLst/>
          </a:prstGeom>
          <a:noFill/>
        </p:spPr>
        <p:txBody>
          <a:bodyPr wrap="square">
            <a:spAutoFit/>
          </a:bodyPr>
          <a:lstStyle/>
          <a:p>
            <a:r>
              <a:rPr lang="pt-BR" dirty="0"/>
              <a:t>5 – Terminal e linha de comando</a:t>
            </a:r>
          </a:p>
          <a:p>
            <a:endParaRPr lang="pt-BR" dirty="0"/>
          </a:p>
          <a:p>
            <a:r>
              <a:rPr lang="pt-BR" dirty="0"/>
              <a:t>O terminal do Linux, também conhecido como </a:t>
            </a:r>
            <a:r>
              <a:rPr lang="pt-BR" dirty="0" err="1"/>
              <a:t>shell</a:t>
            </a:r>
            <a:r>
              <a:rPr lang="pt-BR" dirty="0"/>
              <a:t>, é um programa que recebe os comandos do usuário a partir do teclado e repassa-os às camadas de baixo nível do sistema operacional.</a:t>
            </a:r>
          </a:p>
          <a:p>
            <a:endParaRPr lang="pt-BR" dirty="0"/>
          </a:p>
          <a:p>
            <a:endParaRPr lang="pt-BR" dirty="0"/>
          </a:p>
        </p:txBody>
      </p:sp>
    </p:spTree>
    <p:extLst>
      <p:ext uri="{BB962C8B-B14F-4D97-AF65-F5344CB8AC3E}">
        <p14:creationId xmlns:p14="http://schemas.microsoft.com/office/powerpoint/2010/main" val="3433153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B41FF297-9DB1-4E7C-ABC4-D657FBE3563F}"/>
              </a:ext>
            </a:extLst>
          </p:cNvPr>
          <p:cNvSpPr txBox="1"/>
          <p:nvPr/>
        </p:nvSpPr>
        <p:spPr>
          <a:xfrm>
            <a:off x="570389" y="814071"/>
            <a:ext cx="10260367" cy="5078313"/>
          </a:xfrm>
          <a:prstGeom prst="rect">
            <a:avLst/>
          </a:prstGeom>
          <a:noFill/>
        </p:spPr>
        <p:txBody>
          <a:bodyPr wrap="square">
            <a:spAutoFit/>
          </a:bodyPr>
          <a:lstStyle/>
          <a:p>
            <a:r>
              <a:rPr lang="pt-BR" dirty="0"/>
              <a:t>6 – Privilégios e permissões</a:t>
            </a:r>
          </a:p>
          <a:p>
            <a:endParaRPr lang="pt-BR" dirty="0"/>
          </a:p>
          <a:p>
            <a:r>
              <a:rPr lang="pt-BR" dirty="0"/>
              <a:t>O Linux tem um controle próprio para permitir privilégios ou permissões em pastas ou arquivos.</a:t>
            </a:r>
          </a:p>
          <a:p>
            <a:endParaRPr lang="pt-BR" dirty="0"/>
          </a:p>
          <a:p>
            <a:r>
              <a:rPr lang="pt-BR" dirty="0"/>
              <a:t>Existem três tipos de permissões, leitura, gravação e execução. </a:t>
            </a:r>
          </a:p>
          <a:p>
            <a:endParaRPr lang="pt-BR" dirty="0"/>
          </a:p>
          <a:p>
            <a:r>
              <a:rPr lang="pt-BR" dirty="0"/>
              <a:t>A leitura permite ao usuário ler o conteúdo do arquivo mas não alterá-lo enquanto a gravação permite que o usuário altere o arquivo e a execução, como o nome diz, permite que o usuário execute o arquivo, no caso de ser executável.</a:t>
            </a:r>
          </a:p>
          <a:p>
            <a:endParaRPr lang="pt-BR" dirty="0"/>
          </a:p>
          <a:p>
            <a:r>
              <a:rPr lang="pt-BR" dirty="0"/>
              <a:t>Estas permissões são divididas em permissões para o proprietário, para o grupo  e para todos.</a:t>
            </a:r>
          </a:p>
          <a:p>
            <a:r>
              <a:rPr lang="pt-BR" dirty="0" err="1"/>
              <a:t>drwxrwxrwx</a:t>
            </a:r>
            <a:endParaRPr lang="pt-BR" dirty="0"/>
          </a:p>
          <a:p>
            <a:endParaRPr lang="pt-BR" dirty="0"/>
          </a:p>
          <a:p>
            <a:endParaRPr lang="pt-BR" dirty="0"/>
          </a:p>
          <a:p>
            <a:endParaRPr lang="pt-BR" dirty="0"/>
          </a:p>
          <a:p>
            <a:endParaRPr lang="pt-BR" dirty="0"/>
          </a:p>
          <a:p>
            <a:endParaRPr lang="pt-BR" dirty="0"/>
          </a:p>
          <a:p>
            <a:endParaRPr lang="pt-BR" dirty="0"/>
          </a:p>
        </p:txBody>
      </p:sp>
      <p:pic>
        <p:nvPicPr>
          <p:cNvPr id="8" name="Imagem 7" descr="Tela de computador com texto preto sobre fundo branco&#10;&#10;Descrição gerada automaticamente">
            <a:extLst>
              <a:ext uri="{FF2B5EF4-FFF2-40B4-BE49-F238E27FC236}">
                <a16:creationId xmlns:a16="http://schemas.microsoft.com/office/drawing/2014/main" id="{ACE96977-14B1-456F-AA2C-64547D64B5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0441" y="4126984"/>
            <a:ext cx="4990768" cy="1586271"/>
          </a:xfrm>
          <a:prstGeom prst="rect">
            <a:avLst/>
          </a:prstGeom>
        </p:spPr>
      </p:pic>
    </p:spTree>
    <p:extLst>
      <p:ext uri="{BB962C8B-B14F-4D97-AF65-F5344CB8AC3E}">
        <p14:creationId xmlns:p14="http://schemas.microsoft.com/office/powerpoint/2010/main" val="2364999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aixaDeTexto 14">
            <a:extLst>
              <a:ext uri="{FF2B5EF4-FFF2-40B4-BE49-F238E27FC236}">
                <a16:creationId xmlns:a16="http://schemas.microsoft.com/office/drawing/2014/main" id="{AECE6622-A106-4AAF-8818-3FF9B83D1C70}"/>
              </a:ext>
            </a:extLst>
          </p:cNvPr>
          <p:cNvSpPr txBox="1"/>
          <p:nvPr/>
        </p:nvSpPr>
        <p:spPr>
          <a:xfrm>
            <a:off x="337352" y="355106"/>
            <a:ext cx="2442976" cy="369332"/>
          </a:xfrm>
          <a:prstGeom prst="rect">
            <a:avLst/>
          </a:prstGeom>
          <a:noFill/>
        </p:spPr>
        <p:txBody>
          <a:bodyPr wrap="none" rtlCol="0">
            <a:spAutoFit/>
          </a:bodyPr>
          <a:lstStyle/>
          <a:p>
            <a:r>
              <a:rPr lang="pt-BR" dirty="0"/>
              <a:t>7 – Principais comandos</a:t>
            </a:r>
          </a:p>
        </p:txBody>
      </p:sp>
      <p:sp>
        <p:nvSpPr>
          <p:cNvPr id="20" name="CaixaDeTexto 19">
            <a:extLst>
              <a:ext uri="{FF2B5EF4-FFF2-40B4-BE49-F238E27FC236}">
                <a16:creationId xmlns:a16="http://schemas.microsoft.com/office/drawing/2014/main" id="{FF354276-6842-47D5-B242-4E9077ECCCC8}"/>
              </a:ext>
            </a:extLst>
          </p:cNvPr>
          <p:cNvSpPr txBox="1"/>
          <p:nvPr/>
        </p:nvSpPr>
        <p:spPr>
          <a:xfrm>
            <a:off x="337352" y="1031289"/>
            <a:ext cx="845231" cy="3139321"/>
          </a:xfrm>
          <a:prstGeom prst="rect">
            <a:avLst/>
          </a:prstGeom>
          <a:noFill/>
        </p:spPr>
        <p:txBody>
          <a:bodyPr wrap="none" rtlCol="0">
            <a:spAutoFit/>
          </a:bodyPr>
          <a:lstStyle/>
          <a:p>
            <a:r>
              <a:rPr lang="pt-BR" dirty="0"/>
              <a:t>- </a:t>
            </a:r>
            <a:r>
              <a:rPr lang="pt-BR" dirty="0" err="1"/>
              <a:t>man</a:t>
            </a:r>
            <a:endParaRPr lang="pt-BR" dirty="0"/>
          </a:p>
          <a:p>
            <a:r>
              <a:rPr lang="pt-BR" dirty="0"/>
              <a:t>- </a:t>
            </a:r>
            <a:r>
              <a:rPr lang="pt-BR" dirty="0" err="1"/>
              <a:t>pwd</a:t>
            </a:r>
            <a:endParaRPr lang="pt-BR" dirty="0"/>
          </a:p>
          <a:p>
            <a:r>
              <a:rPr lang="pt-BR" dirty="0"/>
              <a:t>- </a:t>
            </a:r>
            <a:r>
              <a:rPr lang="pt-BR" dirty="0" err="1"/>
              <a:t>cd</a:t>
            </a:r>
            <a:endParaRPr lang="pt-BR" dirty="0"/>
          </a:p>
          <a:p>
            <a:r>
              <a:rPr lang="pt-BR" dirty="0"/>
              <a:t>- </a:t>
            </a:r>
            <a:r>
              <a:rPr lang="pt-BR" dirty="0" err="1"/>
              <a:t>ls</a:t>
            </a:r>
            <a:endParaRPr lang="pt-BR" dirty="0"/>
          </a:p>
          <a:p>
            <a:r>
              <a:rPr lang="pt-BR" dirty="0"/>
              <a:t>- </a:t>
            </a:r>
            <a:r>
              <a:rPr lang="pt-BR" dirty="0" err="1"/>
              <a:t>mkdir</a:t>
            </a:r>
            <a:endParaRPr lang="pt-BR" dirty="0"/>
          </a:p>
          <a:p>
            <a:r>
              <a:rPr lang="pt-BR" dirty="0"/>
              <a:t>- </a:t>
            </a:r>
            <a:r>
              <a:rPr lang="pt-BR" dirty="0" err="1"/>
              <a:t>rmdir</a:t>
            </a:r>
            <a:endParaRPr lang="pt-BR" dirty="0"/>
          </a:p>
          <a:p>
            <a:r>
              <a:rPr lang="pt-BR" dirty="0"/>
              <a:t>- </a:t>
            </a:r>
            <a:r>
              <a:rPr lang="pt-BR" dirty="0" err="1"/>
              <a:t>cp</a:t>
            </a:r>
            <a:endParaRPr lang="pt-BR" dirty="0"/>
          </a:p>
          <a:p>
            <a:r>
              <a:rPr lang="pt-BR" dirty="0"/>
              <a:t>- </a:t>
            </a:r>
            <a:r>
              <a:rPr lang="pt-BR" dirty="0" err="1"/>
              <a:t>mv</a:t>
            </a:r>
            <a:endParaRPr lang="pt-BR" dirty="0"/>
          </a:p>
          <a:p>
            <a:r>
              <a:rPr lang="pt-BR" dirty="0"/>
              <a:t>- </a:t>
            </a:r>
            <a:r>
              <a:rPr lang="pt-BR" dirty="0" err="1"/>
              <a:t>du</a:t>
            </a:r>
            <a:endParaRPr lang="pt-BR" dirty="0"/>
          </a:p>
          <a:p>
            <a:r>
              <a:rPr lang="pt-BR" dirty="0"/>
              <a:t>- </a:t>
            </a:r>
            <a:r>
              <a:rPr lang="pt-BR" dirty="0" err="1"/>
              <a:t>tail</a:t>
            </a:r>
            <a:endParaRPr lang="pt-BR" dirty="0"/>
          </a:p>
          <a:p>
            <a:endParaRPr lang="pt-BR" dirty="0"/>
          </a:p>
        </p:txBody>
      </p:sp>
    </p:spTree>
    <p:extLst>
      <p:ext uri="{BB962C8B-B14F-4D97-AF65-F5344CB8AC3E}">
        <p14:creationId xmlns:p14="http://schemas.microsoft.com/office/powerpoint/2010/main" val="2885159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E1F3118-8410-480D-AEE1-A402A4AF83A6}"/>
              </a:ext>
            </a:extLst>
          </p:cNvPr>
          <p:cNvSpPr txBox="1"/>
          <p:nvPr/>
        </p:nvSpPr>
        <p:spPr>
          <a:xfrm>
            <a:off x="914400" y="1225118"/>
            <a:ext cx="9738563" cy="4801314"/>
          </a:xfrm>
          <a:prstGeom prst="rect">
            <a:avLst/>
          </a:prstGeom>
          <a:noFill/>
        </p:spPr>
        <p:txBody>
          <a:bodyPr wrap="none" rtlCol="0">
            <a:spAutoFit/>
          </a:bodyPr>
          <a:lstStyle/>
          <a:p>
            <a:r>
              <a:rPr lang="pt-BR" dirty="0" err="1"/>
              <a:t>man</a:t>
            </a:r>
            <a:endParaRPr lang="pt-BR" dirty="0"/>
          </a:p>
          <a:p>
            <a:endParaRPr lang="pt-BR" dirty="0"/>
          </a:p>
          <a:p>
            <a:r>
              <a:rPr lang="pt-BR" b="0" i="0" dirty="0">
                <a:solidFill>
                  <a:srgbClr val="2B2B2B"/>
                </a:solidFill>
                <a:effectLst/>
                <a:latin typeface="Lato" panose="020F0502020204030203" pitchFamily="34" charset="0"/>
              </a:rPr>
              <a:t>Este utilitário formata e apresenta páginas do manual on-line sobre um determinado comando.</a:t>
            </a:r>
          </a:p>
          <a:p>
            <a:endParaRPr lang="pt-BR" dirty="0">
              <a:solidFill>
                <a:srgbClr val="2B2B2B"/>
              </a:solidFill>
              <a:latin typeface="Lato" panose="020F0502020204030203" pitchFamily="34" charset="0"/>
            </a:endParaRPr>
          </a:p>
          <a:p>
            <a:r>
              <a:rPr lang="pt-BR" b="0" i="0" dirty="0" err="1">
                <a:solidFill>
                  <a:srgbClr val="2B2B2B"/>
                </a:solidFill>
                <a:effectLst/>
                <a:latin typeface="Lato" panose="020F0502020204030203" pitchFamily="34" charset="0"/>
              </a:rPr>
              <a:t>pwd</a:t>
            </a:r>
            <a:endParaRPr lang="pt-BR" b="0" i="0" dirty="0">
              <a:solidFill>
                <a:srgbClr val="2B2B2B"/>
              </a:solidFill>
              <a:effectLst/>
              <a:latin typeface="Lato" panose="020F0502020204030203" pitchFamily="34" charset="0"/>
            </a:endParaRPr>
          </a:p>
          <a:p>
            <a:endParaRPr lang="pt-BR" b="0" i="0" dirty="0">
              <a:solidFill>
                <a:srgbClr val="2B2B2B"/>
              </a:solidFill>
              <a:effectLst/>
              <a:latin typeface="Lato" panose="020F0502020204030203" pitchFamily="34" charset="0"/>
            </a:endParaRPr>
          </a:p>
          <a:p>
            <a:r>
              <a:rPr lang="pt-BR" b="0" i="0" dirty="0">
                <a:solidFill>
                  <a:srgbClr val="2B2B2B"/>
                </a:solidFill>
                <a:effectLst/>
                <a:latin typeface="Lato" panose="020F0502020204030203" pitchFamily="34" charset="0"/>
              </a:rPr>
              <a:t>Este comando exibe o nome do diretório corrente.</a:t>
            </a:r>
          </a:p>
          <a:p>
            <a:endParaRPr lang="pt-BR" dirty="0">
              <a:solidFill>
                <a:srgbClr val="2B2B2B"/>
              </a:solidFill>
              <a:latin typeface="Lato" panose="020F0502020204030203" pitchFamily="34" charset="0"/>
            </a:endParaRPr>
          </a:p>
          <a:p>
            <a:r>
              <a:rPr lang="pt-BR" dirty="0" err="1">
                <a:solidFill>
                  <a:srgbClr val="2B2B2B"/>
                </a:solidFill>
                <a:latin typeface="Lato" panose="020F0502020204030203" pitchFamily="34" charset="0"/>
              </a:rPr>
              <a:t>cd</a:t>
            </a:r>
            <a:endParaRPr lang="pt-BR" dirty="0">
              <a:solidFill>
                <a:srgbClr val="2B2B2B"/>
              </a:solidFill>
              <a:latin typeface="Lato" panose="020F0502020204030203" pitchFamily="34" charset="0"/>
            </a:endParaRPr>
          </a:p>
          <a:p>
            <a:endParaRPr lang="pt-BR" dirty="0">
              <a:solidFill>
                <a:srgbClr val="2B2B2B"/>
              </a:solidFill>
              <a:latin typeface="Lato" panose="020F0502020204030203" pitchFamily="34" charset="0"/>
            </a:endParaRPr>
          </a:p>
          <a:p>
            <a:r>
              <a:rPr lang="pt-BR" b="0" i="0" dirty="0">
                <a:solidFill>
                  <a:srgbClr val="2B2B2B"/>
                </a:solidFill>
                <a:effectLst/>
                <a:latin typeface="Lato" panose="020F0502020204030203" pitchFamily="34" charset="0"/>
              </a:rPr>
              <a:t>Este comando permite ao usuário mudar o diretório de trabalho. A mudança de diretório pode </a:t>
            </a:r>
          </a:p>
          <a:p>
            <a:r>
              <a:rPr lang="pt-BR" b="0" i="0" dirty="0">
                <a:solidFill>
                  <a:srgbClr val="2B2B2B"/>
                </a:solidFill>
                <a:effectLst/>
                <a:latin typeface="Lato" panose="020F0502020204030203" pitchFamily="34" charset="0"/>
              </a:rPr>
              <a:t>ser feita de forma sequencial (de diretório pai para diretório filho ou vice-versa) ou pode ser </a:t>
            </a:r>
          </a:p>
          <a:p>
            <a:r>
              <a:rPr lang="pt-BR" b="0" i="0" dirty="0">
                <a:solidFill>
                  <a:srgbClr val="2B2B2B"/>
                </a:solidFill>
                <a:effectLst/>
                <a:latin typeface="Lato" panose="020F0502020204030203" pitchFamily="34" charset="0"/>
              </a:rPr>
              <a:t>feita de forma aleatória (de um diretório qualquer para outro diretório qualquer).</a:t>
            </a:r>
            <a:endParaRPr lang="pt-BR" dirty="0">
              <a:solidFill>
                <a:srgbClr val="2B2B2B"/>
              </a:solidFill>
              <a:latin typeface="Lato" panose="020F0502020204030203" pitchFamily="34" charset="0"/>
            </a:endParaRPr>
          </a:p>
          <a:p>
            <a:endParaRPr lang="pt-BR" b="0" i="0" dirty="0">
              <a:solidFill>
                <a:srgbClr val="2B2B2B"/>
              </a:solidFill>
              <a:effectLst/>
              <a:latin typeface="Lato" panose="020F0502020204030203" pitchFamily="34" charset="0"/>
            </a:endParaRPr>
          </a:p>
          <a:p>
            <a:endParaRPr lang="pt-BR" b="0" i="0" dirty="0">
              <a:solidFill>
                <a:srgbClr val="2B2B2B"/>
              </a:solidFill>
              <a:effectLst/>
              <a:latin typeface="Lato" panose="020F0502020204030203" pitchFamily="34" charset="0"/>
            </a:endParaRPr>
          </a:p>
          <a:p>
            <a:endParaRPr lang="pt-BR" dirty="0">
              <a:solidFill>
                <a:srgbClr val="2B2B2B"/>
              </a:solidFill>
              <a:latin typeface="Lato" panose="020F0502020204030203" pitchFamily="34" charset="0"/>
            </a:endParaRPr>
          </a:p>
          <a:p>
            <a:endParaRPr lang="pt-BR" dirty="0"/>
          </a:p>
        </p:txBody>
      </p:sp>
    </p:spTree>
    <p:extLst>
      <p:ext uri="{BB962C8B-B14F-4D97-AF65-F5344CB8AC3E}">
        <p14:creationId xmlns:p14="http://schemas.microsoft.com/office/powerpoint/2010/main" val="1369818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C1559D0A-699D-457C-883C-23E96476AC09}"/>
              </a:ext>
            </a:extLst>
          </p:cNvPr>
          <p:cNvSpPr txBox="1"/>
          <p:nvPr/>
        </p:nvSpPr>
        <p:spPr>
          <a:xfrm>
            <a:off x="914400" y="1225118"/>
            <a:ext cx="4979248" cy="4247317"/>
          </a:xfrm>
          <a:prstGeom prst="rect">
            <a:avLst/>
          </a:prstGeom>
          <a:noFill/>
        </p:spPr>
        <p:txBody>
          <a:bodyPr wrap="none" rtlCol="0">
            <a:spAutoFit/>
          </a:bodyPr>
          <a:lstStyle/>
          <a:p>
            <a:r>
              <a:rPr lang="pt-BR" dirty="0" err="1"/>
              <a:t>ls</a:t>
            </a:r>
            <a:endParaRPr lang="pt-BR" dirty="0"/>
          </a:p>
          <a:p>
            <a:endParaRPr lang="pt-BR" dirty="0"/>
          </a:p>
          <a:p>
            <a:r>
              <a:rPr lang="pt-BR" b="0" i="0" dirty="0">
                <a:solidFill>
                  <a:srgbClr val="2B2B2B"/>
                </a:solidFill>
                <a:effectLst/>
                <a:latin typeface="Lato" panose="020F0502020204030203" pitchFamily="34" charset="0"/>
              </a:rPr>
              <a:t>Este comando lista o conteúdo de um diretório.</a:t>
            </a:r>
          </a:p>
          <a:p>
            <a:endParaRPr lang="pt-BR" dirty="0">
              <a:solidFill>
                <a:srgbClr val="2B2B2B"/>
              </a:solidFill>
              <a:latin typeface="Lato" panose="020F0502020204030203" pitchFamily="34" charset="0"/>
            </a:endParaRPr>
          </a:p>
          <a:p>
            <a:endParaRPr lang="pt-BR" b="0" i="0" dirty="0">
              <a:solidFill>
                <a:srgbClr val="2B2B2B"/>
              </a:solidFill>
              <a:effectLst/>
              <a:latin typeface="Lato" panose="020F0502020204030203" pitchFamily="34" charset="0"/>
            </a:endParaRPr>
          </a:p>
          <a:p>
            <a:r>
              <a:rPr lang="pt-BR" dirty="0" err="1">
                <a:solidFill>
                  <a:srgbClr val="2B2B2B"/>
                </a:solidFill>
                <a:latin typeface="Lato" panose="020F0502020204030203" pitchFamily="34" charset="0"/>
              </a:rPr>
              <a:t>mkdir</a:t>
            </a:r>
            <a:endParaRPr lang="pt-BR" b="0" i="0" dirty="0">
              <a:solidFill>
                <a:srgbClr val="2B2B2B"/>
              </a:solidFill>
              <a:effectLst/>
              <a:latin typeface="Lato" panose="020F0502020204030203" pitchFamily="34" charset="0"/>
            </a:endParaRPr>
          </a:p>
          <a:p>
            <a:endParaRPr lang="pt-BR" b="0" i="0" dirty="0">
              <a:solidFill>
                <a:srgbClr val="2B2B2B"/>
              </a:solidFill>
              <a:effectLst/>
              <a:latin typeface="Lato" panose="020F0502020204030203" pitchFamily="34" charset="0"/>
            </a:endParaRPr>
          </a:p>
          <a:p>
            <a:r>
              <a:rPr lang="pt-BR" b="0" i="0" dirty="0">
                <a:solidFill>
                  <a:srgbClr val="2B2B2B"/>
                </a:solidFill>
                <a:effectLst/>
                <a:latin typeface="Lato" panose="020F0502020204030203" pitchFamily="34" charset="0"/>
              </a:rPr>
              <a:t>Este comando cria diretórios.</a:t>
            </a:r>
          </a:p>
          <a:p>
            <a:endParaRPr lang="pt-BR" dirty="0">
              <a:solidFill>
                <a:srgbClr val="2B2B2B"/>
              </a:solidFill>
              <a:latin typeface="Lato" panose="020F0502020204030203" pitchFamily="34" charset="0"/>
            </a:endParaRPr>
          </a:p>
          <a:p>
            <a:r>
              <a:rPr lang="pt-BR" dirty="0" err="1">
                <a:solidFill>
                  <a:srgbClr val="2B2B2B"/>
                </a:solidFill>
                <a:latin typeface="Lato" panose="020F0502020204030203" pitchFamily="34" charset="0"/>
              </a:rPr>
              <a:t>rmdir</a:t>
            </a:r>
            <a:endParaRPr lang="pt-BR" dirty="0">
              <a:solidFill>
                <a:srgbClr val="2B2B2B"/>
              </a:solidFill>
              <a:latin typeface="Lato" panose="020F0502020204030203" pitchFamily="34" charset="0"/>
            </a:endParaRPr>
          </a:p>
          <a:p>
            <a:endParaRPr lang="pt-BR" dirty="0">
              <a:solidFill>
                <a:srgbClr val="2B2B2B"/>
              </a:solidFill>
              <a:latin typeface="Lato" panose="020F0502020204030203" pitchFamily="34" charset="0"/>
            </a:endParaRPr>
          </a:p>
          <a:p>
            <a:r>
              <a:rPr lang="pt-BR" b="0" i="0" dirty="0">
                <a:solidFill>
                  <a:srgbClr val="2B2B2B"/>
                </a:solidFill>
                <a:effectLst/>
                <a:latin typeface="Lato" panose="020F0502020204030203" pitchFamily="34" charset="0"/>
              </a:rPr>
              <a:t>Este comando remove diretórios vazios.</a:t>
            </a:r>
          </a:p>
          <a:p>
            <a:endParaRPr lang="pt-BR" b="0" i="0" dirty="0">
              <a:solidFill>
                <a:srgbClr val="2B2B2B"/>
              </a:solidFill>
              <a:effectLst/>
              <a:latin typeface="Lato" panose="020F0502020204030203" pitchFamily="34" charset="0"/>
            </a:endParaRPr>
          </a:p>
          <a:p>
            <a:endParaRPr lang="pt-BR" dirty="0">
              <a:solidFill>
                <a:srgbClr val="2B2B2B"/>
              </a:solidFill>
              <a:latin typeface="Lato" panose="020F0502020204030203" pitchFamily="34" charset="0"/>
            </a:endParaRPr>
          </a:p>
          <a:p>
            <a:endParaRPr lang="pt-BR" dirty="0"/>
          </a:p>
        </p:txBody>
      </p:sp>
    </p:spTree>
    <p:extLst>
      <p:ext uri="{BB962C8B-B14F-4D97-AF65-F5344CB8AC3E}">
        <p14:creationId xmlns:p14="http://schemas.microsoft.com/office/powerpoint/2010/main" val="1511599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9D0156F0-B8E4-4345-9CA9-6CDD4880A9EA}"/>
              </a:ext>
            </a:extLst>
          </p:cNvPr>
          <p:cNvSpPr txBox="1"/>
          <p:nvPr/>
        </p:nvSpPr>
        <p:spPr>
          <a:xfrm>
            <a:off x="914400" y="1225118"/>
            <a:ext cx="7595349" cy="3693319"/>
          </a:xfrm>
          <a:prstGeom prst="rect">
            <a:avLst/>
          </a:prstGeom>
          <a:noFill/>
        </p:spPr>
        <p:txBody>
          <a:bodyPr wrap="none" rtlCol="0">
            <a:spAutoFit/>
          </a:bodyPr>
          <a:lstStyle/>
          <a:p>
            <a:r>
              <a:rPr lang="pt-BR" dirty="0" err="1"/>
              <a:t>cp</a:t>
            </a:r>
            <a:endParaRPr lang="pt-BR" dirty="0"/>
          </a:p>
          <a:p>
            <a:endParaRPr lang="pt-BR" dirty="0"/>
          </a:p>
          <a:p>
            <a:r>
              <a:rPr lang="pt-BR" b="0" i="0" dirty="0">
                <a:solidFill>
                  <a:srgbClr val="2B2B2B"/>
                </a:solidFill>
                <a:effectLst/>
                <a:latin typeface="Lato" panose="020F0502020204030203" pitchFamily="34" charset="0"/>
              </a:rPr>
              <a:t>Copiar arquivos</a:t>
            </a:r>
            <a:endParaRPr lang="pt-BR" dirty="0">
              <a:solidFill>
                <a:srgbClr val="2B2B2B"/>
              </a:solidFill>
              <a:latin typeface="Lato" panose="020F0502020204030203" pitchFamily="34" charset="0"/>
            </a:endParaRPr>
          </a:p>
          <a:p>
            <a:endParaRPr lang="pt-BR" b="0" i="0" dirty="0">
              <a:solidFill>
                <a:srgbClr val="2B2B2B"/>
              </a:solidFill>
              <a:effectLst/>
              <a:latin typeface="Lato" panose="020F0502020204030203" pitchFamily="34" charset="0"/>
            </a:endParaRPr>
          </a:p>
          <a:p>
            <a:r>
              <a:rPr lang="pt-BR" dirty="0" err="1">
                <a:solidFill>
                  <a:srgbClr val="2B2B2B"/>
                </a:solidFill>
                <a:latin typeface="Lato" panose="020F0502020204030203" pitchFamily="34" charset="0"/>
              </a:rPr>
              <a:t>mv</a:t>
            </a:r>
            <a:endParaRPr lang="pt-BR" b="0" i="0" dirty="0">
              <a:solidFill>
                <a:srgbClr val="2B2B2B"/>
              </a:solidFill>
              <a:effectLst/>
              <a:latin typeface="Lato" panose="020F0502020204030203" pitchFamily="34" charset="0"/>
            </a:endParaRPr>
          </a:p>
          <a:p>
            <a:endParaRPr lang="pt-BR" b="0" i="0" dirty="0">
              <a:solidFill>
                <a:srgbClr val="2B2B2B"/>
              </a:solidFill>
              <a:effectLst/>
              <a:latin typeface="Lato" panose="020F0502020204030203" pitchFamily="34" charset="0"/>
            </a:endParaRPr>
          </a:p>
          <a:p>
            <a:r>
              <a:rPr lang="pt-BR" b="0" i="0" dirty="0">
                <a:solidFill>
                  <a:srgbClr val="2B2B2B"/>
                </a:solidFill>
                <a:effectLst/>
                <a:latin typeface="Lato" panose="020F0502020204030203" pitchFamily="34" charset="0"/>
              </a:rPr>
              <a:t>Mover ou renomear</a:t>
            </a:r>
          </a:p>
          <a:p>
            <a:endParaRPr lang="pt-BR" dirty="0">
              <a:solidFill>
                <a:srgbClr val="2B2B2B"/>
              </a:solidFill>
              <a:latin typeface="Lato" panose="020F0502020204030203" pitchFamily="34" charset="0"/>
            </a:endParaRPr>
          </a:p>
          <a:p>
            <a:r>
              <a:rPr lang="pt-BR" dirty="0" err="1">
                <a:solidFill>
                  <a:srgbClr val="2B2B2B"/>
                </a:solidFill>
                <a:latin typeface="Lato" panose="020F0502020204030203" pitchFamily="34" charset="0"/>
              </a:rPr>
              <a:t>du</a:t>
            </a:r>
            <a:endParaRPr lang="pt-BR" dirty="0">
              <a:solidFill>
                <a:srgbClr val="2B2B2B"/>
              </a:solidFill>
              <a:latin typeface="Lato" panose="020F0502020204030203" pitchFamily="34" charset="0"/>
            </a:endParaRPr>
          </a:p>
          <a:p>
            <a:endParaRPr lang="pt-BR" dirty="0">
              <a:solidFill>
                <a:srgbClr val="2B2B2B"/>
              </a:solidFill>
              <a:latin typeface="Lato" panose="020F0502020204030203" pitchFamily="34" charset="0"/>
            </a:endParaRPr>
          </a:p>
          <a:p>
            <a:r>
              <a:rPr lang="pt-BR" b="0" i="0" dirty="0">
                <a:solidFill>
                  <a:srgbClr val="2B2B2B"/>
                </a:solidFill>
                <a:effectLst/>
                <a:latin typeface="Lato" panose="020F0502020204030203" pitchFamily="34" charset="0"/>
              </a:rPr>
              <a:t>Este comando exibe informações sobre o espaço usado pelos diretórios.</a:t>
            </a:r>
          </a:p>
          <a:p>
            <a:endParaRPr lang="pt-BR" dirty="0">
              <a:solidFill>
                <a:srgbClr val="2B2B2B"/>
              </a:solidFill>
              <a:latin typeface="Lato" panose="020F0502020204030203" pitchFamily="34" charset="0"/>
            </a:endParaRPr>
          </a:p>
          <a:p>
            <a:endParaRPr lang="pt-BR" dirty="0"/>
          </a:p>
        </p:txBody>
      </p:sp>
    </p:spTree>
    <p:extLst>
      <p:ext uri="{BB962C8B-B14F-4D97-AF65-F5344CB8AC3E}">
        <p14:creationId xmlns:p14="http://schemas.microsoft.com/office/powerpoint/2010/main" val="2772287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8D33E9D6-3D8D-4782-8B07-1BCD9A63307D}"/>
              </a:ext>
            </a:extLst>
          </p:cNvPr>
          <p:cNvSpPr txBox="1"/>
          <p:nvPr/>
        </p:nvSpPr>
        <p:spPr>
          <a:xfrm>
            <a:off x="914400" y="1225118"/>
            <a:ext cx="6027612" cy="1477328"/>
          </a:xfrm>
          <a:prstGeom prst="rect">
            <a:avLst/>
          </a:prstGeom>
          <a:noFill/>
        </p:spPr>
        <p:txBody>
          <a:bodyPr wrap="none" rtlCol="0">
            <a:spAutoFit/>
          </a:bodyPr>
          <a:lstStyle/>
          <a:p>
            <a:r>
              <a:rPr lang="pt-BR" dirty="0" err="1"/>
              <a:t>tail</a:t>
            </a:r>
            <a:endParaRPr lang="pt-BR" dirty="0"/>
          </a:p>
          <a:p>
            <a:endParaRPr lang="pt-BR" dirty="0"/>
          </a:p>
          <a:p>
            <a:r>
              <a:rPr lang="pt-BR" b="0" i="0" dirty="0">
                <a:solidFill>
                  <a:srgbClr val="2B2B2B"/>
                </a:solidFill>
                <a:effectLst/>
                <a:latin typeface="Lato" panose="020F0502020204030203" pitchFamily="34" charset="0"/>
              </a:rPr>
              <a:t>Este comando exibe as últimas linhas de um arquivo texto</a:t>
            </a:r>
            <a:endParaRPr lang="pt-BR" dirty="0">
              <a:solidFill>
                <a:srgbClr val="2B2B2B"/>
              </a:solidFill>
              <a:latin typeface="Lato" panose="020F0502020204030203" pitchFamily="34" charset="0"/>
            </a:endParaRPr>
          </a:p>
          <a:p>
            <a:endParaRPr lang="pt-BR" dirty="0">
              <a:solidFill>
                <a:srgbClr val="2B2B2B"/>
              </a:solidFill>
              <a:latin typeface="Lato" panose="020F0502020204030203" pitchFamily="34" charset="0"/>
            </a:endParaRPr>
          </a:p>
          <a:p>
            <a:endParaRPr lang="pt-BR" dirty="0"/>
          </a:p>
        </p:txBody>
      </p:sp>
    </p:spTree>
    <p:extLst>
      <p:ext uri="{BB962C8B-B14F-4D97-AF65-F5344CB8AC3E}">
        <p14:creationId xmlns:p14="http://schemas.microsoft.com/office/powerpoint/2010/main" val="1968908597"/>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647</Words>
  <Application>Microsoft Office PowerPoint</Application>
  <PresentationFormat>Widescreen</PresentationFormat>
  <Paragraphs>111</Paragraphs>
  <Slides>12</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12</vt:i4>
      </vt:variant>
    </vt:vector>
  </HeadingPairs>
  <TitlesOfParts>
    <vt:vector size="18" baseType="lpstr">
      <vt:lpstr>Arial</vt:lpstr>
      <vt:lpstr>Calibri</vt:lpstr>
      <vt:lpstr>Calibri Light</vt:lpstr>
      <vt:lpstr>Consolas</vt:lpstr>
      <vt:lpstr>Lato</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Elmo Leonardo da Costa</dc:creator>
  <cp:lastModifiedBy>Elmo Leonardo da Costa</cp:lastModifiedBy>
  <cp:revision>17</cp:revision>
  <dcterms:created xsi:type="dcterms:W3CDTF">2022-01-10T20:57:58Z</dcterms:created>
  <dcterms:modified xsi:type="dcterms:W3CDTF">2022-01-27T01:33:02Z</dcterms:modified>
</cp:coreProperties>
</file>